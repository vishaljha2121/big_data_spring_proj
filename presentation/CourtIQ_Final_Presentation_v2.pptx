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AB152"/>
                </a:solidFill>
              </a:defRPr>
            </a:pPr>
            <a:r>
              <a:t>CourtIQ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Centre Court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0E8D2"/>
                </a:solidFill>
              </a:defRPr>
            </a:pPr>
            <a:r>
              <a:t>Replay historical tennis points as a stream, score them live, and serve the results through an analytics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807208"/>
            <a:ext cx="5532120" cy="2966688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52928"/>
            <a:ext cx="5440680" cy="2875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3977639"/>
            <a:ext cx="1060704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4069079"/>
            <a:ext cx="78638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POINT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325112"/>
            <a:ext cx="7863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AB152"/>
                </a:solidFill>
              </a:defRPr>
            </a:pPr>
            <a:r>
              <a:t>1.92M+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7672" y="3977639"/>
            <a:ext cx="1060704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4069079"/>
            <a:ext cx="78638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4325112"/>
            <a:ext cx="7863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AB152"/>
                </a:solidFill>
              </a:defRPr>
            </a:pPr>
            <a:r>
              <a:t>10.5K+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2112" y="3977639"/>
            <a:ext cx="1060704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4069079"/>
            <a:ext cx="78638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KAFKA/SPARK SCORED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325112"/>
            <a:ext cx="7863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AB152"/>
                </a:solidFill>
              </a:defRPr>
            </a:pPr>
            <a:r>
              <a:t>1000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977639"/>
            <a:ext cx="1060704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069079"/>
            <a:ext cx="78638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TESTS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325112"/>
            <a:ext cx="78638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AB152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Problem +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Turn historical point data into a replayable, model-scored tennis analytics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5B30"/>
                </a:solidFill>
              </a:defRPr>
            </a:pPr>
            <a:r>
              <a:t>messy point records, missing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MODEL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476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future leakage can invalidate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DEMO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476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batch files alone do not prove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Goal: validated data lake → replay stream → online features → point model → risk signal → API/dashboard.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Keep the language honest: point probability is not betting odds; risk is not proof of misconduct.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Final Product Demo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The final UI is a product, not just an output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858000" cy="3667379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766560" cy="3575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462907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Centre Court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417320"/>
            <a:ext cx="374903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Dashboard KPIs and validation evidence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Match Browser and Replay Center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Point Scoring Center + Model Performance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Pipeline Monitor and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800600"/>
            <a:ext cx="3017520" cy="310896"/>
          </a:xfrm>
          <a:prstGeom prst="round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4860036"/>
            <a:ext cx="287121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File-backed API + real scored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Why This Satisfies Big Data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POINT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1.92M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37160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62763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5B30"/>
                </a:solidFill>
              </a:defRPr>
            </a:pPr>
            <a:r>
              <a:t>10.5K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REPLAY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1.92M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28016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37160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KAFKA PARTITIONS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62763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377439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68879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SPARK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2491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1000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377439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2468879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272491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5B30"/>
                </a:solidFill>
              </a:defRPr>
            </a:pPr>
            <a:r>
              <a:t>70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377439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79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API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2491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9049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2377439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2468879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FEATURE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72491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1.92M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104241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Parquet data lake zones with schema contracts and data-quality reports.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Spark-style batch feature processing plus Kafka replay stream.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Spark Structured Streaming runtime with checkpointing and JSONL/Parquet sink.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Local demo is bounded; replay/scoring design is horizontally 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Dataset Scale +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CURATED POINT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1,922,136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CURATED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5B30"/>
                </a:solidFill>
              </a:defRPr>
            </a:pPr>
            <a:r>
              <a:t>10,508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200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630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PLAYER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19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1,891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0241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Singles-only curated Parquet data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Invalid/special point evidence preserved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Reports for missing winners, servers, elapsed time, rally length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Surface coverage is 0%; surface analytics are planned, not claimed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06</a:t>
            </a:r>
          </a:p>
        </p:txBody>
      </p:sp>
      <p:pic>
        <p:nvPicPr>
          <p:cNvPr id="5" name="Picture 4" descr="01_end_to_end_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201400" cy="647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Data Lake + Cleaning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02_data_lake_zon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532120" cy="3196336"/>
          </a:xfrm>
          <a:prstGeom prst="rect">
            <a:avLst/>
          </a:prstGeom>
        </p:spPr>
      </p:pic>
      <p:pic>
        <p:nvPicPr>
          <p:cNvPr id="6" name="Picture 5" descr="03_point_in_tim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532120" cy="3196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Point-in-Time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03_point_in_tim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675120" cy="3856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38862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For event k, features use only events &lt; k.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Cumulative, rolling, and recent-window features are shifted before scoring.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Tests prove the current point winner is not included in current-row features.</a:t>
            </a:r>
          </a:p>
          <a:p>
            <a:pPr>
              <a:spcAft>
                <a:spcPts val="800"/>
              </a:spcAft>
              <a:defRPr sz="1700">
                <a:solidFill>
                  <a:srgbClr val="182331"/>
                </a:solidFill>
              </a:defRPr>
            </a:pPr>
            <a:r>
              <a:t>This matters because score-state leakage produced unrealistically high metrics before removal.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Model Training +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09</a:t>
            </a:r>
          </a:p>
        </p:txBody>
      </p:sp>
      <p:pic>
        <p:nvPicPr>
          <p:cNvPr id="5" name="Picture 4" descr="05_model_publica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217920" cy="35925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325880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173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7335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Player A wins current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325880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14173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7335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HistGradientBoosting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359152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0662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AB152"/>
                </a:solidFill>
              </a:defRPr>
            </a:pPr>
            <a:r>
              <a:t>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359152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VAL 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70662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0.6395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92424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4838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TEST 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3989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0.6415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392424"/>
            <a:ext cx="20116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4838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TEST BRIER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0.2347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Not betting odds. Not match-win probability.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Replay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6634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Replay manifest: 1,917,672 canonical point events.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Synthetic match/event IDs are deterministic replay metadata.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Dry-run JSONL remains deterministic fallback.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Kafka mode publishes point_event_v1 messages keyed by synthetic_match_id.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REPLAY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6479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10,464 matches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DRY-RUN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9923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1000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7763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PARTITION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336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synthetic_match_id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Kafka + Spark Structured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04_kafka_spark_streaming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201400" cy="647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3A23"/>
                </a:solidFill>
              </a:defRPr>
            </a:pPr>
            <a:r>
              <a:t>Runtime proof: Kafka PASSED, Spark Structured Streaming PASSED, 1000 events scored, checkpoint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Scoring + Risk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9377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Online feature builder maintains match state.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Published model returns point_probability_player_a/player_b.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Risk config uses conservative baseline-deviation rules.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No fake anomaly labels; risk is a review signal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0876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00200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JSONL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56231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2454/sec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50876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600200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AVG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856231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5B30"/>
                </a:solidFill>
              </a:defRPr>
            </a:pPr>
            <a:r>
              <a:t>0.384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834639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926079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SPARK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182111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1000 scored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834639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926079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INVALID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182111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API + Centre Court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097280"/>
            <a:ext cx="6080759" cy="3256629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989320" cy="31651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097280"/>
            <a:ext cx="4892040" cy="2628423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stapi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143000"/>
            <a:ext cx="4800600" cy="2536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34340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331"/>
                </a:solidFill>
              </a:defRPr>
            </a:pPr>
            <a:r>
              <a:t>FastAPI exposes health, summary, scored events, matches, replay catalog, risk, models, benchmarks.</a:t>
            </a:r>
          </a:p>
          <a:p>
            <a:pPr>
              <a:spcAft>
                <a:spcPts val="800"/>
              </a:spcAft>
              <a:defRPr sz="1500">
                <a:solidFill>
                  <a:srgbClr val="182331"/>
                </a:solidFill>
              </a:defRPr>
            </a:pPr>
            <a:r>
              <a:t>Frontend groups workflows into Analytics, Replay, ML Model, and Data 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Validation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30759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data/features/validation_report.json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64792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12264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83794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model_eval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95144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86584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42615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368296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replay dry-run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25496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16936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898648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kafka_runtime_report.json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55848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47288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42900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spark_streaming_validation_report.json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86200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33672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95935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api_validation_report.json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16552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07992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64024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4897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frontend_validation_report.json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946904"/>
            <a:ext cx="210312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38344"/>
            <a:ext cx="1828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94376"/>
            <a:ext cx="18287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70 passed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5020056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E6B7C"/>
                </a:solidFill>
              </a:defRPr>
            </a:pPr>
            <a:r>
              <a:t>pytest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Difficulties + Engineering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Sparse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32588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58191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excluded surface/rally primary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234440"/>
            <a:ext cx="3474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81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honest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0312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50591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Feature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10312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219456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450591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strict lagged features and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103120"/>
            <a:ext cx="3474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1945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45059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defensible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97180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0632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1927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Replayability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97180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79" y="306324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331927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deterministic synthetic 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2971800"/>
            <a:ext cx="3474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063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3192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stream-ready manifest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840479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93191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87951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Kafka/Spark friction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3840479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19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4187951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fixed image + foreachBatch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3840479"/>
            <a:ext cx="3474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93191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18795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runtime 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70916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80060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05663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5B30"/>
                </a:solidFill>
              </a:defRPr>
            </a:pPr>
            <a:r>
              <a:t>Product polish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46120" y="470916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79" y="48006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79" y="505663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3FA4"/>
                </a:solidFill>
              </a:defRPr>
            </a:pPr>
            <a:r>
              <a:t>Centre Court shell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709160"/>
            <a:ext cx="3474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8006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E6B7C"/>
                </a:solidFill>
              </a:defRPr>
            </a:pPr>
            <a:r>
              <a:t>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0566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3A23"/>
                </a:solidFill>
              </a:defRPr>
            </a:pPr>
            <a:r>
              <a:t>demo-ready 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TEAM MEMBER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Data engineering, cleaning, Parquet zones,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TEAM MEMBER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647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Feature engineering, modeling, risk scoring,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TEAM MEMBER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647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Kafka/Spark, API, frontend, demo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Shared: contracts, tests, reports, runbooks, final validation.</a:t>
            </a:r>
          </a:p>
          <a:p>
            <a:pPr>
              <a:spcAft>
                <a:spcPts val="800"/>
              </a:spcAft>
              <a:defRPr sz="1800">
                <a:solidFill>
                  <a:srgbClr val="182331"/>
                </a:solidFill>
              </a:defRPr>
            </a:pPr>
            <a:r>
              <a:t>Replace placeholders with actual names before presenting if desired.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Limitations +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Point probability is not betting odds or match-win probability.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Risk score is not proof of misconduct or match-fixing.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Surface analytics, official rankings, and ATP bridge remain future work.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Local demo is not a production deployment.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Next: managed streaming, persistent serving store, richer metadata, monitoring dashboards.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3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3A23"/>
                </a:solidFill>
              </a:defRPr>
            </a:pPr>
            <a:r>
              <a:t>Demo Flow +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E6B7C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1. Start: bash scripts/run_full_demo.sh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2. Show Dashboard → Match Browser → Replay Center → Point Timeline.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3. Show Model Performance → Validation → Pipeline Monitor.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4. Streaming proof: bash scripts/run_streaming_demo.sh --max-events 1000.</a:t>
            </a:r>
          </a:p>
          <a:p>
            <a:pPr>
              <a:spcAft>
                <a:spcPts val="800"/>
              </a:spcAft>
              <a:defRPr sz="1900">
                <a:solidFill>
                  <a:srgbClr val="182331"/>
                </a:solidFill>
              </a:defRPr>
            </a:pPr>
            <a:r>
              <a:t>Close: validated data-to-product pipeline with real Kafka/Spark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087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002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56231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3A23"/>
                </a:solidFill>
              </a:defRPr>
            </a:pPr>
            <a:r>
              <a:t>127.0.0.1:5173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8892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8803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API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136391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3FA4"/>
                </a:solidFill>
              </a:defRPr>
            </a:pPr>
            <a:r>
              <a:t>127.0.0.1:8000/docs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06908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16052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6B7C"/>
                </a:solidFill>
              </a:defRPr>
            </a:pPr>
            <a:r>
              <a:t>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4165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B152"/>
                </a:solidFill>
              </a:defRPr>
            </a:pPr>
            <a:r>
              <a:t>Kafka + Spark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