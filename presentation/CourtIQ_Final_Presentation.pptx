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CourtIQ: Centre Court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1488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2E8CC"/>
                </a:solidFill>
              </a:defRPr>
            </a:pPr>
            <a:r>
              <a:t>Validated tennis point data, Kafka/Spark replay streaming, point-level scoring, risk review signals, API, and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20624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1596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Point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9028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8B45D"/>
                </a:solidFill>
              </a:defRPr>
            </a:pPr>
            <a:r>
              <a:t>1.92M+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20624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431596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459028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8B45D"/>
                </a:solidFill>
              </a:defRPr>
            </a:pPr>
            <a:r>
              <a:t>10.5K+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420624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1596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Kafka/Spark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8B45D"/>
                </a:solidFill>
              </a:defRPr>
            </a:pPr>
            <a:r>
              <a:t>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420624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59" y="431596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Frontend/API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459028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8B45D"/>
                </a:solidFill>
              </a:defRPr>
            </a:pPr>
            <a:r>
              <a:t>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Tennis analytics needs point-level context, not only final scores.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Raw tennis point feeds are noisy, sparse, and not model-ready.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Point outcome predictions must avoid future leakage.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Streaming demos need reproducible event replay, scoring, and validation evidence.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Risk outputs must be framed as review signals, not misconduct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47088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Project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121408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8B45D"/>
                </a:solidFill>
              </a:defRPr>
            </a:pPr>
            <a:r>
              <a:t>End-to-end validated analytics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06324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172968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Bounded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47288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B2E91"/>
                </a:solidFill>
              </a:defRPr>
            </a:pPr>
            <a:r>
              <a:t>Local runtime, scalable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Product Demo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Centre Court Analytics: a product shell over real scored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852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Dashboard: validated KPIs, model quality, and replay status.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Match Browser + Replay Center: player-first match labels and point timeline.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Prediction Center: point-level probability output, not betting odds.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Validation + Pipeline Monitor: evidence for API, scoring, Kafka, and Spark.</a:t>
            </a:r>
          </a:p>
        </p:txBody>
      </p:sp>
      <p:pic>
        <p:nvPicPr>
          <p:cNvPr id="6" name="Picture 5" descr="api_frontend_ser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Why This Is a Big Data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local demo is bounded; the architecture is built for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1.9M+ point-level rows and 10K+ singles matches processed into Parquet zones.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Schema contracts, data quality reports, validation scripts, and quarantine evidence.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Spark ETL / feature processing concepts used for scalable batch stages.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Kafka replay stream and Spark Structured Streaming runtime validated locally.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Checkpointed streaming scorer writes scalable local JSONL/Parquet sinks.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FastAPI/frontend serve validated scored outputs for analysis and 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Dataset and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Validated tennis point data became the foundation for modeling and replay.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7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Curated point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1,922,136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64207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Curated 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3852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10,508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55448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64207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Replay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3852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1,917,672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81528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Replay matches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5584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10,464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97180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081528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Player baselines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5584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1,891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97180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081528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Full demo scored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5584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9,049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0916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Surface coverage is unavailable; surface analytics remain planned.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Rally length coverage is sparse; not used as a primary MVP feature.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ATP bridge remains unvalidated; no ATP-derived claims are made.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pic>
        <p:nvPicPr>
          <p:cNvPr id="4" name="Picture 3" descr="end_to_en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Data Lake + Cleaning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pic>
        <p:nvPicPr>
          <p:cNvPr id="4" name="Picture 3" descr="data_lake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3086100"/>
          </a:xfrm>
          <a:prstGeom prst="rect">
            <a:avLst/>
          </a:prstGeom>
        </p:spPr>
      </p:pic>
      <p:pic>
        <p:nvPicPr>
          <p:cNvPr id="5" name="Picture 4" descr="batch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257800" cy="2957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Cleaned and curated layers are Parquet-backed.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Singles-only filtering, deterministic placeholders, and quarantine handling.</a:t>
            </a:r>
          </a:p>
          <a:p>
            <a:pPr>
              <a:spcAft>
                <a:spcPts val="700"/>
              </a:spcAft>
              <a:defRPr sz="1300">
                <a:solidFill>
                  <a:srgbClr val="1E293B"/>
                </a:solidFill>
              </a:defRPr>
            </a:pPr>
            <a:r>
              <a:t>Reports track invalid winners/servers, missing metadata, and feature availability.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Feature Engineering and Point-in-Time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760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Features are sorted by match and event index.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All cumulative and rolling features use prior events only.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First point in each match has zero prior counts.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Recent-window features use only earlier points.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Tests prove current point winner does not leak into current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3931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664207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Point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93852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1,922,136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3931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8529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Match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12724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10,508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931920"/>
            <a:ext cx="3931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04164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Point-in-time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31596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8B45D"/>
                </a:solidFill>
              </a:defRPr>
            </a:pPr>
            <a:r>
              <a:t>Validated 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Model Training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Primary target: Player A wins the current point.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Selected model: HistGradientBoosting classifier.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Two-phase publication: staging validation → v1 artifact → latest.json pointer.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Feature schema hash prevents inference-time mismatch.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173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52704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Feature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80136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4173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52704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Validation 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80136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0.6395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65176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76148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Test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3580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0.6415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65176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76148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Test Brier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3580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0.2347</a:t>
            </a:r>
          </a:p>
        </p:txBody>
      </p:sp>
      <p:pic>
        <p:nvPicPr>
          <p:cNvPr id="17" name="Picture 16" descr="model_pub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749039"/>
            <a:ext cx="5394960" cy="3034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Replay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760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Replay manifest selects validated singles matches for deterministic event replay.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Synthetic match and event IDs are deterministic and schema-validated.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Dry-run JSONL path remains reproducible without Kafka.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Kafka mode publishes canonical point_event_v1 messages keyed by synthetic_match_id.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08760"/>
            <a:ext cx="3931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61848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Manifest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892807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1,917,672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3931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8529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Validated dry-run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12724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1,000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977639"/>
            <a:ext cx="3931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08736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Full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36168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10,464 matches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Kafka + Spark Structured Streaming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pic>
        <p:nvPicPr>
          <p:cNvPr id="4" name="Picture 3" descr="kafka_spark_stre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617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778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Runtime status: PASSED with 1000 Kafka events and 1000 Spark-scored events.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Spark uses foreachBatch to reuse validated Python scoring logic.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Checkpointing is local and suitable for demo validation, not production exactly-once claims.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Scoring + Risk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035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Online feature builder maintains state per synthetic match.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Odds model outputs point_probability_player_a / player_b.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Risk config computes conservative baseline-deviation signals.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Risk score is a statistical review signal only.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No fake anomaly labels or misconduct claims are used.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41732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152704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JSONL throughput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80136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2454.2 ev/s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65176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7614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Avg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03580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0.384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886200"/>
            <a:ext cx="374903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99592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Spark scored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27024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8B45D"/>
                </a:solidFill>
              </a:defRPr>
            </a:pPr>
            <a:r>
              <a:t>1000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API and Frontend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760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FastAPI serves validated scored files and model metadata.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OpenAPI snapshot and response examples are exported.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Centre Court Analytics React app exposes Analytics, Replay, ML Model, and Data Ops sections.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Unsupported modules are labeled planned or sample-derived.</a:t>
            </a:r>
          </a:p>
        </p:txBody>
      </p:sp>
      <p:pic>
        <p:nvPicPr>
          <p:cNvPr id="5" name="Picture 4" descr="api_frontend_ser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Validation and Testing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Pytest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70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4173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79" y="152704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API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180136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4173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52704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Frontend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80136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2704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Final preflight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0136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5292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Kafka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12724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PASSED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274320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79" y="285292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Spark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12724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PASSED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74320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285292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Kafka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12724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274320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85292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Spark scored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12724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1000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72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Validation scripts write JSON evidence under data/results/.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Contracts guard point events, scored events, model metadata, and API responses.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Difficulties and Engineering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Sparse surface/rally metadata blocked certain feature families.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Avoiding point-in-time leakage required strict lag/shift logic and synthetic tests.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Kafka image tag and runtime setup required hardening before validation.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Spark model scoring used foreachBatch to avoid fragile distributed sklearn loading.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Dashboard needed product polish while preserving truthful data semantics.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Team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3-member contribution split for the final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Team Member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Data engineering + cleaning +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013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Team Member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7568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B2E91"/>
                </a:solidFill>
              </a:defRPr>
            </a:pPr>
            <a:r>
              <a:t>Modeling + scoring + risk artifacts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69164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8013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Team Member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07568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8B45D"/>
                </a:solidFill>
              </a:defRPr>
            </a:pPr>
            <a:r>
              <a:t>Streaming/API/frontend/demo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Cross-cutting work: contracts, tests, documentation, validation reports, demo runbooks.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Replace placeholder labels with actual member names if desired before presenting.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Point probabilities are not betting odds and not match-win probabilities.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Risk scores are statistical anomaly signals, not proof of misconduct or match-fixing.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Surface analytics and official rankings are not claimed; current views are sample-derived or planned.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Local Spark/Kafka demo is bounded; production scaling needs managed infrastructure and stronger sink semantics.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ATP bridge remains unvalidated.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Add reliable tournament/surface metadata and official rankings integration.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Build match-level prediction model separately from point-level scoring.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Move streaming jobs to managed Kafka/Spark infrastructure.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Add persistent serving storage after schema contracts stabilize.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Add monitoring dashboards for drift, latency, and replay coverage.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875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Start local product: bash scripts/run_full_demo.sh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Show Dashboard → Match Browser → Replay Center → Point Timeline.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Show Prediction Center and Model Performance with point-level language.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Show Validation and Pipeline Monitor evidence.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Optional Big Data proof: bash scripts/run_streaming_demo.sh --max-events 1000.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3200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23036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50468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http://127.0.0.1:5173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5120640"/>
            <a:ext cx="3200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523036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API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550468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4225"/>
                </a:solidFill>
              </a:defRPr>
            </a:pPr>
            <a:r>
              <a:t>http://127.0.0.1:8000/docs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5120640"/>
            <a:ext cx="3200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523036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Streaming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550468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8B45D"/>
                </a:solidFill>
              </a:defRPr>
            </a:pPr>
            <a:r>
              <a:t>Kafka + Spark reports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42D1C"/>
                </a:solidFill>
              </a:defRPr>
            </a:pPr>
            <a:r>
              <a:t>Closing: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8686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A validated data-to-product tennis analytics system.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Batch data lake, point-in-time features, model artifacts, and risk config.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Real Kafka replay and Spark Structured Streaming scoring evidence.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FastAPI + Centre Court dashboard for demo-ready exploration.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Honest limitations and reproducible validation artifacts.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5212080"/>
            <a:ext cx="6126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532180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Final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5596128"/>
            <a:ext cx="5852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8B45D"/>
                </a:solidFill>
              </a:defRPr>
            </a:pPr>
            <a:r>
              <a:t>Validated local Big Data analytics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